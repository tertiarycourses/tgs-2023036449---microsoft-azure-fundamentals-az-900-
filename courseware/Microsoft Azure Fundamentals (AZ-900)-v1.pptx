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502920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800">
                <a:solidFill>
                  <a:srgbClr val="FFFFFF"/>
                </a:solidFill>
              </a:rPr>
              <a:t>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78992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143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200" b="1">
                <a:solidFill>
                  <a:srgbClr val="111827"/>
                </a:solidFill>
                <a:latin typeface="Arial"/>
              </a:rPr>
              <a:t>Microsoft Azure Fundamentals (AZ-900)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875520" cy="7315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800" b="0">
                <a:solidFill>
                  <a:srgbClr val="4B5563"/>
                </a:solidFill>
                <a:latin typeface="Arial"/>
              </a:rPr>
              <a:t>TGS-2023036449 | Hands-On Labs | Tertiary Infotech Academy Pte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95560" y="5989320"/>
            <a:ext cx="146304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300" b="1">
                <a:solidFill>
                  <a:srgbClr val="1F6FEB"/>
                </a:solidFill>
                <a:latin typeface="Arial"/>
              </a:rPr>
              <a:t>Version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Copyright Notice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Copyright 2026 Tertiary Infotech Academy Pte Ltd.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3327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Materials are for enrolled learners only.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30752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895344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Do not redistribute assessment or trainer materials.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About Tertiary Infotech Academy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WSQ course provider delivering ICT and business technology training.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3327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UEN: 201200696W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30752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895344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Training format: instructor-led, hands-on, assessment-ready.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YOUR TRAINER -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28800"/>
            <a:ext cx="3337560" cy="4206240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828800"/>
            <a:ext cx="3337560" cy="100584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73352" y="2395728"/>
            <a:ext cx="1554480" cy="155448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3063240" cy="34747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Your Trainer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19472"/>
            <a:ext cx="3063240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50" b="1">
                <a:solidFill>
                  <a:srgbClr val="4B5563"/>
                </a:solidFill>
                <a:latin typeface="Arial"/>
              </a:rPr>
              <a:t>General Trainer template -
to be completed by the trainer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828800"/>
            <a:ext cx="6812280" cy="566928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182880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1965960"/>
            <a:ext cx="25603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2240280"/>
            <a:ext cx="4069080" cy="13716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560320"/>
            <a:ext cx="6812280" cy="566928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17720" y="2560320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2697479"/>
            <a:ext cx="25603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2971800"/>
            <a:ext cx="4069080" cy="13716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17720" y="3291840"/>
            <a:ext cx="6812280" cy="566928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329184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3429000"/>
            <a:ext cx="25603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92040" y="3703320"/>
            <a:ext cx="4069080" cy="13716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4023360"/>
            <a:ext cx="6812280" cy="566928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17720" y="4023360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4160520"/>
            <a:ext cx="25603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4434840"/>
            <a:ext cx="4069080" cy="13716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17720" y="4754880"/>
            <a:ext cx="6812280" cy="566928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17720" y="475488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4892040"/>
            <a:ext cx="25603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92040" y="5166360"/>
            <a:ext cx="4069080" cy="13716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17720" y="5486400"/>
            <a:ext cx="6812280" cy="566928"/>
          </a:xfrm>
          <a:prstGeom prst="rect">
            <a:avLst/>
          </a:prstGeom>
          <a:solidFill>
            <a:srgbClr val="F3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17720" y="5486400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5623560"/>
            <a:ext cx="25603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5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92040" y="5897880"/>
            <a:ext cx="4069080" cy="13716"/>
          </a:xfrm>
          <a:prstGeom prst="rect">
            <a:avLst/>
          </a:prstGeom>
          <a:solidFill>
            <a:srgbClr val="D0D7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28800"/>
            <a:ext cx="3337560" cy="4206240"/>
          </a:xfrm>
          <a:prstGeom prst="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82880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40" y="2331720"/>
            <a:ext cx="1600200" cy="1600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AA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389120"/>
            <a:ext cx="3063240" cy="34747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000" b="1">
                <a:solidFill>
                  <a:srgbClr val="111827"/>
                </a:solidFill>
                <a:latin typeface="Arial"/>
              </a:rPr>
              <a:t>Dr. Alfred 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919472"/>
            <a:ext cx="3063240" cy="56692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50" b="1">
                <a:solidFill>
                  <a:srgbClr val="4B5563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828800"/>
            <a:ext cx="6812280" cy="868680"/>
          </a:xfrm>
          <a:prstGeom prst="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17720" y="1828800"/>
            <a:ext cx="73152" cy="86868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92040" y="1993392"/>
            <a:ext cx="617220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267712"/>
            <a:ext cx="6172200" cy="25603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2907791"/>
            <a:ext cx="6812280" cy="868680"/>
          </a:xfrm>
          <a:prstGeom prst="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17720" y="2907791"/>
            <a:ext cx="73152" cy="868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3072384"/>
            <a:ext cx="617220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346703"/>
            <a:ext cx="6172200" cy="25603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PhD - specialises in AI, automation, software engineering and cloud learning.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3986783"/>
            <a:ext cx="6812280" cy="868680"/>
          </a:xfrm>
          <a:prstGeom prst="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17720" y="3986783"/>
            <a:ext cx="73152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4151375"/>
            <a:ext cx="617220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425696"/>
            <a:ext cx="6172200" cy="25603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WSQ courses on cloud fundamentals, AI, automation and app development.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5065776"/>
            <a:ext cx="6812280" cy="868680"/>
          </a:xfrm>
          <a:prstGeom prst="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17720" y="5065776"/>
            <a:ext cx="73152" cy="8686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92040" y="5230368"/>
            <a:ext cx="617220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504688"/>
            <a:ext cx="6172200" cy="25603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Digital Attendance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Scan SSG digital attendance at required checkpoints.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3327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Minimum 75% attendance is required.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30752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895344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Use the same registered learner identity throughout.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Ground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5303520" cy="1143000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91640"/>
            <a:ext cx="73152" cy="1143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" y="2020824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75688"/>
            <a:ext cx="3977639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50" b="0">
                <a:solidFill>
                  <a:srgbClr val="111827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691640"/>
            <a:ext cx="5303520" cy="1143000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691640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47688" y="2020824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075688"/>
            <a:ext cx="3977639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50" b="0">
                <a:solidFill>
                  <a:srgbClr val="111827"/>
                </a:solidFill>
                <a:latin typeface="Arial"/>
              </a:rPr>
              <a:t>Participate actively - no question is too small.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291840"/>
            <a:ext cx="5303520" cy="1143000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291840"/>
            <a:ext cx="73152" cy="1143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8408" y="36210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75888"/>
            <a:ext cx="3977639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50" b="0">
                <a:solidFill>
                  <a:srgbClr val="111827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3291840"/>
            <a:ext cx="5303520" cy="1143000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3291840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47688" y="36210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675888"/>
            <a:ext cx="3977639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50" b="0">
                <a:solidFill>
                  <a:srgbClr val="111827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892040"/>
            <a:ext cx="5303520" cy="1143000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892040"/>
            <a:ext cx="73152" cy="1143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8408" y="5221224"/>
            <a:ext cx="530352" cy="5303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276088"/>
            <a:ext cx="3977639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50" b="0">
                <a:solidFill>
                  <a:srgbClr val="111827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4892040"/>
            <a:ext cx="5303520" cy="1143000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4892040"/>
            <a:ext cx="73152" cy="1143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47688" y="5221224"/>
            <a:ext cx="530352" cy="53035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977639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50" b="0">
                <a:solidFill>
                  <a:srgbClr val="111827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Course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2514600" cy="1645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Domain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Labs 1-3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Cloud concepts, portal and shell basics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1828800"/>
            <a:ext cx="2514600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Domain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Labs 4-11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Azure architecture and core services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1828800"/>
            <a:ext cx="2514600" cy="1645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Domain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Labs 12-16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Management and governance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6880" y="1828800"/>
            <a:ext cx="2514600" cy="1645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rial"/>
              </a:rP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AZ-900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Hands-on readiness for fundamentals topics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Learning Resources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Azure Portal: https://portal.azure.com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3327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Azure Cloud Shell: https://shell.azure.com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30752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895344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Official AZ-900 study guide and Microsoft Learn references.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Assessment Flow Reminder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12848"/>
            <a:ext cx="1993392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0392" y="2359152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536192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TRAQOM digital
attendance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971800"/>
            <a:ext cx="256032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4B5563"/>
                </a:solidFill>
                <a:latin typeface="Arial"/>
              </a:rPr>
              <a:t>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12848"/>
            <a:ext cx="1993392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999232" y="2359152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926080"/>
            <a:ext cx="1536192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Assessment digital
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971800"/>
            <a:ext cx="256032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4B5563"/>
                </a:solidFill>
                <a:latin typeface="Arial"/>
              </a:rPr>
              <a:t>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2212848"/>
            <a:ext cx="1993392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148072" y="2359152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926080"/>
            <a:ext cx="1536192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Sit WA then
case study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971800"/>
            <a:ext cx="256032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4B5563"/>
                </a:solidFill>
                <a:latin typeface="Arial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2212848"/>
            <a:ext cx="1993392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296912" y="2359152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926080"/>
            <a:ext cx="1536192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Submit answers on
the LMS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971800"/>
            <a:ext cx="256032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4B5563"/>
                </a:solidFill>
                <a:latin typeface="Arial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2212848"/>
            <a:ext cx="1993392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45752" y="2359152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926080"/>
            <a:ext cx="1536192" cy="5029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Sign Assessment
Summary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074920"/>
            <a:ext cx="7863840" cy="34747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500" b="0">
                <a:solidFill>
                  <a:srgbClr val="4B5563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Take the Online AZ-900 Practice Exams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6634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434840" cy="47548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50" b="0">
                <a:solidFill>
                  <a:srgbClr val="111827"/>
                </a:solidFill>
                <a:latin typeface="Arial"/>
              </a:rPr>
              <a:t>Reinforce AZ-900 domains with realistic, exam-style questions before assessment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24327"/>
            <a:ext cx="46634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70048"/>
            <a:ext cx="4434840" cy="47548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50" b="0">
                <a:solidFill>
                  <a:srgbClr val="111827"/>
                </a:solidFill>
                <a:latin typeface="Arial"/>
              </a:rPr>
              <a:t>Use practice sets to test cloud concepts, Azure services, governance, cost and monitoring.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74135"/>
            <a:ext cx="46634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19856"/>
            <a:ext cx="4434840" cy="47548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50" b="0">
                <a:solidFill>
                  <a:srgbClr val="111827"/>
                </a:solidFill>
                <a:latin typeface="Arial"/>
              </a:rPr>
              <a:t>Review mode helps you check the correct answer and revisit the concept after each question.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23944"/>
            <a:ext cx="46634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0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169664"/>
            <a:ext cx="4434840" cy="47548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50" b="0">
                <a:solidFill>
                  <a:srgbClr val="111827"/>
                </a:solidFill>
                <a:latin typeface="Arial"/>
              </a:rPr>
              <a:t>Complete the practice questions from Google Classroom, then bring difficult items to review.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212080"/>
            <a:ext cx="438912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50" b="1">
                <a:solidFill>
                  <a:srgbClr val="111827"/>
                </a:solidFill>
                <a:latin typeface="Arial"/>
              </a:rPr>
              <a:t>Access and practise at: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532120"/>
            <a:ext cx="4663440" cy="292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Google Classroom &gt; Practice Exams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23560" y="1828800"/>
            <a:ext cx="5715000" cy="4279392"/>
          </a:xfrm>
          <a:prstGeom prst="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06440" y="1965960"/>
            <a:ext cx="228600" cy="2286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8192" y="1993392"/>
            <a:ext cx="1463040" cy="146304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50" b="1">
                <a:solidFill>
                  <a:srgbClr val="111827"/>
                </a:solidFill>
                <a:latin typeface="Arial"/>
              </a:rPr>
              <a:t>Tertiary Exams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1993392"/>
            <a:ext cx="868680" cy="146304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80" b="0">
                <a:solidFill>
                  <a:srgbClr val="111827"/>
                </a:solidFill>
                <a:latin typeface="Arial"/>
              </a:rPr>
              <a:t>Practice Exam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93392"/>
            <a:ext cx="685800" cy="146304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80" b="0">
                <a:solidFill>
                  <a:srgbClr val="111827"/>
                </a:solidFill>
                <a:latin typeface="Arial"/>
              </a:rPr>
              <a:t>About 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61320" y="1920240"/>
            <a:ext cx="530352" cy="21945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25328" y="1975104"/>
            <a:ext cx="411480" cy="7315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48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2542032"/>
            <a:ext cx="4389120" cy="25603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50" b="1">
                <a:solidFill>
                  <a:srgbClr val="111827"/>
                </a:solidFill>
                <a:latin typeface="Arial"/>
              </a:rPr>
              <a:t>Microsoft Azure Fundamentals (AZ-900) Practice Exams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0" y="3154680"/>
            <a:ext cx="987552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273552"/>
            <a:ext cx="731520" cy="91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" b="1">
                <a:solidFill>
                  <a:srgbClr val="4B5563"/>
                </a:solidFill>
                <a:latin typeface="Arial"/>
              </a:rPr>
              <a:t>MODE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3474720"/>
            <a:ext cx="731520" cy="91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50" b="1">
                <a:solidFill>
                  <a:srgbClr val="111827"/>
                </a:solidFill>
                <a:latin typeface="Arial"/>
              </a:rPr>
              <a:t>Practice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3648456"/>
            <a:ext cx="804672" cy="3200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40880" y="3154680"/>
            <a:ext cx="987552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50608" y="3273552"/>
            <a:ext cx="731520" cy="91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" b="1">
                <a:solidFill>
                  <a:srgbClr val="4B5563"/>
                </a:solidFill>
                <a:latin typeface="Arial"/>
              </a:rPr>
              <a:t>FOCUS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0608" y="3474720"/>
            <a:ext cx="731520" cy="91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50" b="1">
                <a:solidFill>
                  <a:srgbClr val="111827"/>
                </a:solidFill>
                <a:latin typeface="Arial"/>
              </a:rPr>
              <a:t>AZ-900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3648456"/>
            <a:ext cx="804672" cy="320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8160" y="3154680"/>
            <a:ext cx="987552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3273552"/>
            <a:ext cx="731520" cy="91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480" b="1">
                <a:solidFill>
                  <a:srgbClr val="4B5563"/>
                </a:solidFill>
                <a:latin typeface="Arial"/>
              </a:rPr>
              <a:t>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3474720"/>
            <a:ext cx="731520" cy="91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50" b="1">
                <a:solidFill>
                  <a:srgbClr val="111827"/>
                </a:solidFill>
                <a:latin typeface="Arial"/>
              </a:rPr>
              <a:t>Class link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648456"/>
            <a:ext cx="804672" cy="3200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921240" y="2834640"/>
            <a:ext cx="11430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2971800"/>
            <a:ext cx="868680" cy="137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20" b="1">
                <a:solidFill>
                  <a:srgbClr val="4B5563"/>
                </a:solidFill>
                <a:latin typeface="Arial"/>
              </a:rPr>
              <a:t>PRACTICE DETAILS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3218688"/>
            <a:ext cx="82296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50" b="0">
                <a:solidFill>
                  <a:srgbClr val="111827"/>
                </a:solidFill>
                <a:latin typeface="Arial"/>
              </a:rPr>
              <a:t>Exam code  AZ-900
Use        Review
Domains   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Two-Day Lesson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Day 1: Labs 1-8 - portal, Cloud Shell, regions, compute, app service, containers and networking.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3327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Day 2: Labs 9-16 - storage, SQL, Entra ID, RBAC, tags, locks, policy, cost and monitoring.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30752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895344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All lab work reuses the resource group rg-az900-labs unless the lab cleanup says otherwise.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CORE 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Azure Resource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920240" cy="77724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Tenant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40" y="1920240"/>
            <a:ext cx="1920240" cy="7772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Subscription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1920240"/>
            <a:ext cx="1920240" cy="77724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Resource Group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920240"/>
            <a:ext cx="1920240" cy="7772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Resources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4023360"/>
            <a:ext cx="1920240" cy="7772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Tags / RBAC / Policy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51760" y="2121408"/>
            <a:ext cx="502920" cy="320040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92040" y="2121408"/>
            <a:ext cx="502920" cy="320040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360920" y="2121408"/>
            <a:ext cx="502920" cy="320040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66360"/>
            <a:ext cx="102412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500" b="0">
                <a:solidFill>
                  <a:srgbClr val="4B5563"/>
                </a:solidFill>
                <a:latin typeface="Arial"/>
              </a:rPr>
              <a:t>The labs repeatedly use this hierarchy: sign in to the tenant, work inside a subscription, place resources in rg-az900-labs, then govern them with tags, RBAC, locks, policy, cost controls and monitoring.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Two-Day Azure Lab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2148840" cy="182880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Portal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Navigate and create rg-az900-labs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62656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74519"/>
            <a:ext cx="2148840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Cloud Shell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Run CLI and PowerShell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61304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874519"/>
            <a:ext cx="2148840" cy="182880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Services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Build compute, network, data and identity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59952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09176" y="1874519"/>
            <a:ext cx="2148840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Govern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Apply RBAC, policy, cost and monitor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754880"/>
            <a:ext cx="9966960" cy="676656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907024"/>
            <a:ext cx="10515600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0">
                <a:solidFill>
                  <a:srgbClr val="4B5563"/>
                </a:solidFill>
                <a:latin typeface="Arial"/>
              </a:rPr>
              <a:t>The slide deck, Learner Guide and Lesson Plan follow this same lab sequence.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Azure Services Practised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2148840" cy="182880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Compute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VMs, App Service and containers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62656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74519"/>
            <a:ext cx="2148840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Network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Regions, zones and VNet testing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61304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874519"/>
            <a:ext cx="2148840" cy="182880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Data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Storage blobs and Azure SQL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59952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09176" y="1874519"/>
            <a:ext cx="2148840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Identity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Entra ID, groups and RBAC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754880"/>
            <a:ext cx="9966960" cy="676656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907024"/>
            <a:ext cx="10515600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0">
                <a:solidFill>
                  <a:srgbClr val="4B5563"/>
                </a:solidFill>
                <a:latin typeface="Arial"/>
              </a:rPr>
              <a:t>Service groups in the diagram map directly to Labs 4-12 and the AZ-900 service domain.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Management and Governance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2148840" cy="182880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Organise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Resource groups and tags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62656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74519"/>
            <a:ext cx="2148840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Secure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IAM and RBAC roles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61304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874519"/>
            <a:ext cx="2148840" cy="182880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Locks and Azure Policy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59952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09176" y="1874519"/>
            <a:ext cx="2148840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Optimise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Budgets, Advisor and Monitor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754880"/>
            <a:ext cx="9966960" cy="676656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907024"/>
            <a:ext cx="10515600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0">
                <a:solidFill>
                  <a:srgbClr val="4B5563"/>
                </a:solidFill>
                <a:latin typeface="Arial"/>
              </a:rPr>
              <a:t>The Day 2 labs turn resources into governed cloud assets through identity, access, policy and monitoring.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Cost and Monitoring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874519"/>
            <a:ext cx="2148840" cy="182880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Pricing and TCO calculators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62656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11880" y="1874519"/>
            <a:ext cx="2148840" cy="18288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Budget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Create spend alerts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61304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0528" y="1874519"/>
            <a:ext cx="2148840" cy="182880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Observe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Advisor, Service Health and Monitor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59952" y="2587752"/>
            <a:ext cx="502920" cy="310896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09176" y="1874519"/>
            <a:ext cx="2148840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Clean Up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Arial"/>
              </a:rPr>
              <a:t>Delete resources after labs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4754880"/>
            <a:ext cx="9966960" cy="676656"/>
          </a:xfrm>
          <a:prstGeom prst="roundRect">
            <a:avLst/>
          </a:prstGeom>
          <a:solidFill>
            <a:srgbClr val="F3F7F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907024"/>
            <a:ext cx="10515600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0">
                <a:solidFill>
                  <a:srgbClr val="4B5563"/>
                </a:solidFill>
                <a:latin typeface="Arial"/>
              </a:rPr>
              <a:t>Cost estimation, budgets, Advisor, Service Health, Monitor and cleanup are handled as one operating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AZ-900 Domain 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2514600" cy="1645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rial"/>
              </a:rPr>
              <a:t>Domain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25-30%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Cloud concepts - Labs 1-3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0" y="1828800"/>
            <a:ext cx="2514600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10B981"/>
                </a:solidFill>
                <a:latin typeface="Arial"/>
              </a:rPr>
              <a:t>Domain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35-40%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20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Architecture and services - Labs 4-11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1828800"/>
            <a:ext cx="2514600" cy="1645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rial"/>
              </a:rPr>
              <a:t>Domain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30-35%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Management and governance - Labs 12-16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1828800"/>
            <a:ext cx="25146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26880" y="1828800"/>
            <a:ext cx="2514600" cy="16459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2240280"/>
            <a:ext cx="2057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64748B"/>
                </a:solidFill>
                <a:latin typeface="Arial"/>
              </a:rPr>
              <a:t>Alignment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2788920"/>
            <a:ext cx="2057400" cy="7772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111827"/>
                </a:solidFill>
                <a:latin typeface="Arial"/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3794760"/>
            <a:ext cx="205740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PPT, LG and LP follow the lab 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AZ-900 Domain Weight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2514600" cy="658368"/>
          </a:xfrm>
          <a:prstGeom prst="rect">
            <a:avLst/>
          </a:prstGeom>
          <a:solidFill>
            <a:srgbClr val="1F6FE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39112"/>
            <a:ext cx="2331720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Domain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9000" y="1828800"/>
            <a:ext cx="2514600" cy="658368"/>
          </a:xfrm>
          <a:prstGeom prst="rect">
            <a:avLst/>
          </a:prstGeom>
          <a:solidFill>
            <a:srgbClr val="1F6FE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2039112"/>
            <a:ext cx="2331720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Exam Weight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828800"/>
            <a:ext cx="2514600" cy="658368"/>
          </a:xfrm>
          <a:prstGeom prst="rect">
            <a:avLst/>
          </a:prstGeom>
          <a:solidFill>
            <a:srgbClr val="1F6FE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2039112"/>
            <a:ext cx="2331720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58200" y="1828800"/>
            <a:ext cx="2514600" cy="658368"/>
          </a:xfrm>
          <a:prstGeom prst="rect">
            <a:avLst/>
          </a:prstGeom>
          <a:solidFill>
            <a:srgbClr val="1F6FEB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49640" y="2039112"/>
            <a:ext cx="2331720" cy="2011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Practice Priority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487168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06624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Cloud Concepts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9000" y="2487168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2706624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25-30%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2487168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2706624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1-3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8200" y="2487168"/>
            <a:ext cx="2514600" cy="658368"/>
          </a:xfrm>
          <a:prstGeom prst="rect">
            <a:avLst/>
          </a:prstGeom>
          <a:solidFill>
            <a:srgbClr val="FDE68A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9640" y="2706624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Moderate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145536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364991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Architecture &amp; Services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29000" y="3145536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0440" y="3364991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35-40%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3145536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3364991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4-11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58200" y="3145536"/>
            <a:ext cx="2514600" cy="658368"/>
          </a:xfrm>
          <a:prstGeom prst="rect">
            <a:avLst/>
          </a:prstGeom>
          <a:solidFill>
            <a:srgbClr val="FCA5A5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3364991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High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803904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023360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1">
                <a:solidFill>
                  <a:srgbClr val="111827"/>
                </a:solidFill>
                <a:latin typeface="Arial"/>
              </a:rPr>
              <a:t>Management &amp; Governance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3803904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4023360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30-35%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43600" y="3803904"/>
            <a:ext cx="2514600" cy="658368"/>
          </a:xfrm>
          <a:prstGeom prst="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35040" y="4023360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12-16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3803904"/>
            <a:ext cx="2514600" cy="658368"/>
          </a:xfrm>
          <a:prstGeom prst="rect">
            <a:avLst/>
          </a:prstGeom>
          <a:solidFill>
            <a:srgbClr val="FCA5A5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9640" y="4023360"/>
            <a:ext cx="2331720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50" b="0">
                <a:solidFill>
                  <a:srgbClr val="111827"/>
                </a:solidFill>
                <a:latin typeface="Arial"/>
              </a:rPr>
              <a:t>High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074920"/>
            <a:ext cx="10058400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4B5563"/>
                </a:solidFill>
                <a:latin typeface="Arial"/>
              </a:rPr>
              <a:t>This matrix mirrors the CySA+ risk-matrix layout, adapted to AZ-900 domain coverage and lab priorities.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DIAGRAM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Azure Shared Responsibility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691640"/>
            <a:ext cx="9875520" cy="585216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65376"/>
            <a:ext cx="9418320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User / Identity /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2313432"/>
            <a:ext cx="8869680" cy="585216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4519" y="2487168"/>
            <a:ext cx="8412480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Application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2935224"/>
            <a:ext cx="7863840" cy="58521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3108960"/>
            <a:ext cx="7406640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Operating System / Network Controls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3557016"/>
            <a:ext cx="6858000" cy="58521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3730752"/>
            <a:ext cx="6400800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Azure Platform Services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54680" y="4178808"/>
            <a:ext cx="5852160" cy="585216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4352544"/>
            <a:ext cx="5394960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Physical Datacenter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349240"/>
            <a:ext cx="9875520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4B5563"/>
                </a:solidFill>
                <a:latin typeface="Arial"/>
              </a:rPr>
              <a:t>Learners configure the top layers in the labs; Microsoft operates the lower platform and physical layers.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1 - Tour the Azure Portal and Create Your First Resource Group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1 - Describe cloud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take a guided tour of the Azure portal - the web-based console you will use throughout this course - and create the resource group `rg-az900-labs` that hosts every resource you build...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labs/lab-01-azure-portal-tour.md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Sign in to the Azure portal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Explore the portal menu and...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Use the global search bar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Explore the top toolbar icons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Sign in to the Azure portal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Explore the portal menu and global navigation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Use the global search bar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Explore the top toolbar icons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Customise portal settings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View and edit your dashboard, and pin a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Keep rg-az900-labs - it is reused by every lab in this course and is only deleted at the end of the course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A resource group with no resources in it costs nothing.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Optional: if you added extra dashboard tiles you don't want, open Dashboard → Edit, remove them and Save.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How to navigate the Azure portal: portal menu, global search, All services, notifications and Cloud Shell icons.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2 - Get Started with Azure Cloud Shell (CLI and PowerShell)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1 - Describe cloud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open Azure Cloud Shell - a browser-based terminal with the Azure CLI and Azure PowerShell pre-installed and pre-authenticated - and use it to inspect your subscription, manage the `rg-...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labs/lab-02-cloud-shell-cli.md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Open Cloud Shell and choose Bash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Complete the first-run storage...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Inspect your account with the...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List resource groups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2 -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Open Cloud Shell and choose Bash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Complete the first-run storage setup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Inspect your account with the Azure CLI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List resource groups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Create the resource group with the CLI (idempotent)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(Optional) Try interactive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2 -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Keep everything: - rg-az900-labs is reused by all later labs - do not delete it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The Cloud Shell storage account is tiny  and costs only cents per month; keep it for the rest of the course.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If you ever want to remove it after the course, delete the resource group named like cloud-shell-storage-southeastasia.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Remove only the scratch file if you like: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3 - Explore Regions, Region Pairs and Availability Zones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1 - Describe cloud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explore Azure's global infrastructure - regions, region pairs and availability zones - using the CLI, Microsoft's interactive datacenter map, and a latency test tool, and you reason...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labs/lab-03-regions-availability-zones.md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List all Azure regions with...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Explore the global...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Identify Southeast Asia's...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Check which VM SKUs support...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3 -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List all Azure regions with the CLI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Explore the global infrastructure 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Identify Southeast Asia's paired region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Check which VM SKUs support availability zones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See zones in the portal VM creation 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Test your latency to Azure regions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3 -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Nothing was created in this lab - the VM wizard was cancelled before deployment, and CLI commands were read-only.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rg-az900-labs remains untouched and is reused in Lab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How to list Azure regions and their paired regions with az account list-locations and JMESPath queries.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The hierarchy geography → region → availability zone, and that Southeast Asia  pairs with East Asia 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4 - Create a Windows Virtual Machine in the Portal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deploy a Windows Server 2022 virtual machine through the portal, connect to it over RDP, install the IIS web server, expose it on port 80 through a network security group rule, and then...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labs/lab-04-windows-vm-portal.md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Start the Create VM wizard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Set credentials and inbound ports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Review the remaining tabs,...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Watch the deployment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4 -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Start the Create VM wizard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Set credentials and inbound ports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Review the remaining tabs, then create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Watch the deployment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Connect via RDP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Install IIS with PowerShell inside the VM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4 -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When you no longer need it: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Open Virtual machines → vm-az900-win01 → Delete.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In the delete pane, tick the checkboxes to also delete the OS disk, Network interface and Public IP address, then confirm.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Do not delete the resource group rg-az900-labs - it is reused by every remaining lab 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5 - Create a Linux VM with the Azure CLI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provision an Ubuntu virtual machine entirely from the command line, open a port, SSH in, install the NGINX web server, check its power state, and cleanly delete it - experiencing the CLI...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labs/lab-05-linux-vm-cli.md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Ensure the resource group exists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Create the Linux VM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Open port 80 for web traffic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Get the VM's IP addresses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5 -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Ensure the resource group exists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Create the Linux VM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Open port 80 for web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Get the VM's IP addresses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SSH into the VM from Cloud Shell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Install NGINX inside the VM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5 -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Steps 8-9 already deallocated and deleted the VM and its attached resources.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Verify nothing billable is left: Only resources from other labs (e.g.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Lab 4's VM and VNet, if you kept them) should remain.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Keep the resource group rg-az900-labs - it is reused by the remaining labs and deleted only in Lab 16.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6 - Create a Web App with Azure App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create a fully managed web app on Azure App Service, deploy a simple HTML page to it with a single CLI command, and explore the scaling options that PaaS gives you without touching a...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labs/lab-06-app-service-webapp.md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Create the resource group (if...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Create the Web App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Browse the default placeholder...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Open Cloud Shell and create a...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6 -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Create the resource group (if it doesn't exist)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Create the Web 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Browse the default placeholder page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Open Cloud Shell and create a simple page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Zip and deploy the page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Verify the deployment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6 -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Keep the resource group rg-az900-labs - it is reused until Lab 16.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Delete only this lab's resources: Or in the portal: open rg-az900-labs, tick the web app and the App Service plan, click Delete and confirm.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App Service is PaaS: Azure manages the OS, web server, patching, and TLS - you manage only your code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An App Service plan defines the compute  that one or more web apps run 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7 - Deploy a Container with Azure Container Instances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run a public Docker container image on Azure Container Instances (ACI) with a single command, browse the running app on a public URL, and inspect its logs - all without provisioning any...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labs/lab-07-container-instances.md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Open Cloud Shell and ensure...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Create the container instance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Get the public FQDN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Browse the running container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7 -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Open Cloud Shell and ensure the resource group exists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Create the container instance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Get the public FQDN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Browse the running container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View the container logs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Restart the container group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7 -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Step 8 already removed the only resource this lab created.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Verify nothing is left: The output should be empty.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Keep the resource group rg-az900-labs itself - it is reused until Lab 16.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Azure Container Instances runs containers on demand with no VMs or orchestrator to manage - the fastest way to run a container in Azure.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8 - Create a Virtual Network and Test Private Connectivity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build a virtual network with two subnets, place a "web" VM with a public IP in one and a "db" VM with no public IP in the other, then prove the two can talk privately over the VNet. This...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labs/lab-08-virtual-network.md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Ensure the resource group exists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Create the virtual network and...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Inspect the VNet in the portal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Create the web VM (with public...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8 -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Ensure the resource group exists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Create the virtual network and subnets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Inspect the VNet in the portal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Create the web VM (with public IP)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Create the db VM (NO public IP)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SSH to the web VM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8 -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Delete both VMs, their NICs/disks/IPs, and the VNet (keep resource group `rg-az900-labs` - it is reused...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An Azure Virtual Network is your private IP space in the cloud; subnets segment it by tier or workload.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VMs in different subnets of the same VNet communicate automatically over private IPs - no extra routing needed.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A VM  without a public IP is unreachable from the internet - a fundamental security control.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9 - Create a Storage Account and Work with Blob Storage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create a general-purpose storage account, upload a blob, switch its access tier, and share it securely with a time-limited SAS URL - then list the same blobs from the CLI. This maps to...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labs/lab-09-storage-blobs.md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Create the storage account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Create a private blob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Upload a file via the portal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Change the blob's access tier...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9 -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Create the storage account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Create a private blob 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Upload a file via the portal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Change the blob's access tier Hot → Cool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Try to open the blob URL anonymously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Generate a SAS URL and open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9 -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The storage account costs almost nothing while nearly empty, so you may keep it - it will be removed with rg-az900-labs in Lab 16.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To delete it now instead: Keep the resource group rg-az900-labs itself - it is reused until Lab 16.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A storage account is a globally-unique namespace hosting Blobs, Files, Queues, and Tables.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Access tiers  trade storage cost against access cost for infrequently used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10 - Create an Azure SQL Database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deploy a fully managed Azure SQL Database preloaded with the AdventureWorksLT sample data and query it directly from the browser - no database server to install, patch, or back up. This...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labs/lab-10-azure-sql.md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Start the SQL Database wizard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Create a new logical server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Choose a cheap compute +...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Configure networking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10 -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Start the SQL Database wizard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Create a new logical server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Choose a cheap compute + storage tier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Configure networking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Load sample data and create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Query the database from the browser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10 -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Delete the database and the logical server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In Cloud Shell: Or in the portal: open rg-az900-labs, tick db-az900 and the SQL server, click Delete.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Basic tier bills daily, so don't leave it running.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Azure SQL Database is a PaaS relational database: Microsoft manages the OS, patching, high availability, and automated backups.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11 - Explore Microsoft Entra ID: Users and Groups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2 - Describe Azure architecture and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explore your tenant in Microsoft Entra ID (formerly Azure AD), create a user and a security group, and sign in as that user to see what "authenticated but not authorised" looks like....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labs/lab-11-entra-id.md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WARNING: use your own tenant,...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Open Microsoft Entra ID and...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Create a new user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Create a security group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11 -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WARNING: use your own tenant, not your company's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Open Microsoft Entra ID and note your tenant details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Create a new user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Create a security group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Add the user to the group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Sign in as the new 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11 -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Keep the user az900.learner and the group grp-az900-learners - Lab 12  reuses them. They cost nothing.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the resource group rg-az900-labs - it is reused until Lab 16.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Microsoft Entra ID is Azure's cloud identity service; every subscription trusts one tenant, identified by a primary domain and tenant 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Users are identities; security groups  are the unit you should manage access with.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12 - Manage Access with Azure RBAC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3 - Describe Azure management and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explore Azure role-based access control (RBAC) on the `rg-az900-labs` resource group: you inspect built-in roles, assign the **Reader** role to the Lab 11 user `az900.learner`, prove...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labs/lab-12-rbac.md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Open Access control (IAM) on...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View existing role assignments...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Compare Reader, Contributor...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Assign the Reader role to...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12 -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Open Access control (IAM) on the resource group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View existing role assignments and scope inheritance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Compare Reader, Contributor and Owner role definitions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Assign the Reader role to az900.learner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Test the assignment as az900.learner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Prove that Reader blocks create and delete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12 -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Confirm the Reader assignment for az900.learner on rg-az900-labs is removed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No resources were created in this lab, so nothing else to delete.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Keep rg-az900-labs, the Lab 11 user and group - later labs still use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Reader, Contributor and Owner are the core built-in roles; only Owner can manage access for others.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13 - Apply Resource Tags and Resource Locks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3 - Describe Azure management and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organise resources with tags (for ownership, environment and cost reporting) and protect them with resource locks that block accidental deletion - two core Azure governance tools. This...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labs/lab-13-tags-locks.md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Add tags to the resource group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Confirm tags are NOT inherited...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Tag an individual resource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Filter All resources by tag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13 -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Add tags to the resource group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Confirm tags are NOT inherited by resources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Tag an individual resource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Filter All resources by tag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Manage tags with the Azure CLI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Add a Delete (CanNotDelete) lock on the resource group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13 -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Ensure the lock lock-az900-nodelete is deleted 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Leave the tags in place - they cost nothing and Lab 15 uses them when grouping costs.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Keep rg-az900-labs and the storage account for the remaining labs.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Resource-group tags are not inherited by child resources by default 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14 - Enforce Standards with Azure Policy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3 - Describe Azure management and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use Azure Policy to enforce an organisational standard - restricting which regions resources may be deployed to - and watch a non-compliant deployment get denied at creation time, even...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labs/lab-14-azure-policy.md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Open the Policy service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Browse built-in policy...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Assign "Allowed locations" to...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Wait for the assignment to...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14 -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Open the Policy 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Browse built-in policy definitions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Assign "Allowed locations" to rg-az900-labs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Wait for the assignment to take effect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Attempt a non-compliant deployment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View the Compliance blade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14 -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Confirm the Allowed locations assignment is deleted  - the built-in *definition* stays, only your *assignment* is removed.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No resources were created , so nothing else to delete.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Keep rg-az900-labs for the remaining labs.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Azure Policy enforces organisational standards  and continuously assesses compliance.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15 - Estimate and Control Costs: Pricing Calculator, TCO and Budgets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3 - Describe Azure management and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lab you estimate the price of a workload with the Azure Pricing Calculator, compare on-premises versus Azure costs with the TCO Calculator, and then control real spend with Cost analysis and a...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labs/lab-15-cost-management.md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Part A: Open the Pricing...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Add a Storage account to the...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Compare Pay-as-you-go with...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Export or share the estimate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15 -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Part A: Open the Pricing Calculator and add a Virtual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Add a Storage account to the estimate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Compare Pay-as-you-go with savings plans and reservations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Export or share the estimate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Part B: Model an on-premises workload in the TCO Calculator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View the 5-year TCO comparison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15 -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In Cost Management &gt; Budgets, you may keep budget-az900  - or select it, click the ... menu and Delete it 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and its resources - Lab 16 performs the final course clean-up.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Cost is driven by resource type/size, consumption, region, commitment model  and network egress.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Reservations and savings plans trade a 1-3 year commitment for significant discounts on steady workloads.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16 - Monitor Your Environment: Advisor, Service Health and Azure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00200"/>
            <a:ext cx="4800600" cy="4434840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251960" cy="320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Domain 3 - Describe Azure management and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251960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In this final lab you tour Azure's monitoring stack: Azure Advisor's recommendation categories, Service Health alerts for platform incidents, and Azure Monitor's Metrics and Activity log - then you...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4128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Day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14016" y="5074920"/>
            <a:ext cx="1234440" cy="384048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F6FEB"/>
                </a:solidFill>
                <a:latin typeface="Arial"/>
              </a:rPr>
              <a:t>labs/lab-16-monitoring.md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3904" y="5074920"/>
            <a:ext cx="1234440" cy="384048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77056" y="5175504"/>
            <a:ext cx="1078992" cy="182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Arial"/>
              </a:rPr>
              <a:t>Hands-on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783080"/>
            <a:ext cx="2331720" cy="105156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1 - Review Azure Advisor...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476488" y="2176272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783080"/>
            <a:ext cx="2331720" cy="10515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1947672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2221991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2 - Download the Advisor...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447288"/>
            <a:ext cx="2331720" cy="10515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3 - Explore Service Health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476488" y="3840480"/>
            <a:ext cx="365760" cy="256032"/>
          </a:xfrm>
          <a:prstGeom prst="right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23960" y="3447288"/>
            <a:ext cx="2331720" cy="10515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2" y="3611880"/>
            <a:ext cx="1993392" cy="1645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88552" y="3886200"/>
            <a:ext cx="1993392" cy="38404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Step 4 - Create an action group for...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7379208" y="2907792"/>
            <a:ext cx="292608" cy="420624"/>
          </a:xfrm>
          <a:prstGeom prst="downArrow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5074920"/>
            <a:ext cx="4846320" cy="43891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Arial"/>
              </a:rPr>
              <a:t>Follow the Learner Guide exactly for commands, portal fields, verification and cleanup.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16 - Key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1 - Review Azure Advisor recommendations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72768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28232" y="1792224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37360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2 - Download the Advisor recommendations 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51760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3 - Explore Service Health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651760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2823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816352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4 - Create an action group for notifications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730752"/>
            <a:ext cx="5074920" cy="804672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5 - Finish creating the Service Health alert rule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730752"/>
            <a:ext cx="507492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950208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895344"/>
            <a:ext cx="4160520" cy="621792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ial"/>
              </a:rPr>
              <a:t>Step 6 - Chart a metric in Azure Monitor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Lab 16 - Verify and Clean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37360"/>
            <a:ext cx="5074920" cy="3931920"/>
          </a:xfrm>
          <a:prstGeom prst="roundRect">
            <a:avLst/>
          </a:prstGeom>
          <a:solidFill>
            <a:srgbClr val="E8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443484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10B981"/>
                </a:solidFill>
                <a:latin typeface="Arial"/>
              </a:rPr>
              <a:t>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743200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All course clean-up was performed in Steps 9-12: 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10128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Deleted Service Health alert rule alert-servicehealth-sea and action group ag-az900-email.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877056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Removed any remaining resource lock, then deleted resource group rg-az900-labs 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443983"/>
            <a:ext cx="443484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Deleted Entra ID user az900.learner and group grp-az900-learners 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37360"/>
            <a:ext cx="4983480" cy="3931920"/>
          </a:xfrm>
          <a:prstGeom prst="roundRect">
            <a:avLst/>
          </a:prstGeom>
          <a:solidFill>
            <a:srgbClr val="FFF4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057400"/>
            <a:ext cx="4343400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rial"/>
              </a:rPr>
              <a:t>Cleanup Discipline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43200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1. Run the lab cleanup section exactly.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310128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2. Keep rg-az900-labs only when the next lab needs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77056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3. Confirm no paid resource is left running.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43983"/>
            <a:ext cx="4343400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ial"/>
              </a:rPr>
              <a:t>4. Lab 16 performs the final course cleanup.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09728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38912"/>
            <a:ext cx="10515600" cy="274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13232"/>
            <a:ext cx="10698480" cy="685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Thank You - Course Wrap-Up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72768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3272" y="1792224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1737360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You created and governed common Azure resources through the portal and Cloud Shell.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103327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871215"/>
            <a:ext cx="329184" cy="32918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816352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You practised cost, security and monitoring fundamentals that map directly to AZ-900.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730752"/>
            <a:ext cx="10332720" cy="841248"/>
          </a:xfrm>
          <a:prstGeom prst="roundRect">
            <a:avLst/>
          </a:prstGeom>
          <a:solidFill>
            <a:srgbClr val="F8FAFC"/>
          </a:solidFill>
          <a:ln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3950208"/>
            <a:ext cx="329184" cy="32918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3895344"/>
            <a:ext cx="9418320" cy="65836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0">
                <a:solidFill>
                  <a:srgbClr val="111827"/>
                </a:solidFill>
                <a:latin typeface="Arial"/>
              </a:rPr>
              <a:t>Delete remaining resources in Lab 16 to avoid ongoing Azure charges.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02920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800" b="0">
                <a:solidFill>
                  <a:srgbClr val="4B5563"/>
                </a:solidFill>
                <a:latin typeface="Arial"/>
              </a:rPr>
              <a:t>Microsoft Azure Fundamentals (AZ-900) | TGS-2023036449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347472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800" b="0">
                <a:solidFill>
                  <a:srgbClr val="4B5563"/>
                </a:solidFill>
                <a:latin typeface="Arial"/>
              </a:rPr>
              <a:t>(c)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73952"/>
            <a:ext cx="640080" cy="228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900" b="1">
                <a:solidFill>
                  <a:srgbClr val="4B5563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